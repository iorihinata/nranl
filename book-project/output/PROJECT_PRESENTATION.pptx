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Город, который помнит нас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Комплексный проект художественного романа</a:t>
            </a:r>
          </a:p>
          <a:p>
            <a:pPr>
              <a:spcAft>
                <a:spcPts val="1800"/>
              </a:spcAft>
              <a:defRPr sz="2200"/>
            </a:pPr>
            <a:r>
              <a:t>Городское фэнтези / romantasy / мистический триллер</a:t>
            </a:r>
          </a:p>
          <a:p>
            <a:pPr>
              <a:spcAft>
                <a:spcPts val="1800"/>
              </a:spcAft>
              <a:defRPr sz="2200"/>
            </a:pPr>
            <a:r>
              <a:t>Автор свободен менять творческую основу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Логлайн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Город стирает людей из памяти, но Мира продолжает помнить исчезнувших.</a:t>
            </a:r>
          </a:p>
          <a:p>
            <a:pPr>
              <a:spcAft>
                <a:spcPts val="1800"/>
              </a:spcAft>
              <a:defRPr sz="2200"/>
            </a:pPr>
            <a:r>
              <a:t>Расследование приводит её к Элиану, связанному с системой забвения.</a:t>
            </a:r>
          </a:p>
          <a:p>
            <a:pPr>
              <a:spcAft>
                <a:spcPts val="1800"/>
              </a:spcAft>
              <a:defRPr sz="2200"/>
            </a:pPr>
            <a:r>
              <a:t>Кто вправе избавлять общество от боли ценой чужого существования?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Обещание читателю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/>
            </a:pPr>
            <a:r>
              <a:t>Тайна с последствиями</a:t>
            </a:r>
          </a:p>
          <a:p>
            <a:pPr>
              <a:spcAft>
                <a:spcPts val="1800"/>
              </a:spcAft>
              <a:defRPr sz="1800"/>
            </a:pPr>
            <a:r>
              <a:t>Атмосферный город и бытовые детали-улики</a:t>
            </a:r>
          </a:p>
          <a:p>
            <a:pPr>
              <a:spcAft>
                <a:spcPts val="1800"/>
              </a:spcAft>
              <a:defRPr sz="1800"/>
            </a:pPr>
            <a:r>
              <a:t>Эмоциональные отношения и моральный выбор</a:t>
            </a:r>
          </a:p>
          <a:p>
            <a:pPr>
              <a:spcAft>
                <a:spcPts val="1800"/>
              </a:spcAft>
              <a:defRPr sz="1800"/>
            </a:pPr>
            <a:r>
              <a:t>Самостоятельная эмоциональная дуга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Если память причиняет боль, имеет ли кто-то право её отнять?</a:t>
            </a:r>
          </a:p>
          <a:p>
            <a:pPr>
              <a:spcAft>
                <a:spcPts val="1800"/>
              </a:spcAft>
              <a:defRPr sz="2200"/>
            </a:pPr>
            <a:r>
              <a:t>Забвение может выглядеть как милосердие и работать как насилие.</a:t>
            </a:r>
          </a:p>
          <a:p>
            <a:pPr>
              <a:spcAft>
                <a:spcPts val="1800"/>
              </a:spcAft>
              <a:defRPr sz="2200"/>
            </a:pPr>
            <a:r>
              <a:t>Память связана с личностью, утратой и ответственностью.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Мир и персонажи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Мира помнит забытых; Элиан связан с механизмом забвения.</a:t>
            </a:r>
          </a:p>
          <a:p>
            <a:pPr>
              <a:spcAft>
                <a:spcPts val="1800"/>
              </a:spcAft>
              <a:defRPr sz="2200"/>
            </a:pPr>
            <a:r>
              <a:t>У магии должны быть ограничения, цена и следы.</a:t>
            </a:r>
          </a:p>
          <a:p>
            <a:pPr>
              <a:spcAft>
                <a:spcPts val="1800"/>
              </a:spcAft>
              <a:defRPr sz="2200"/>
            </a:pPr>
            <a:r>
              <a:t>У героев разные цели, ошибочные убеждения и точки невозврата.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Рынок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Художественная литература остаётся значимым сегментом.</a:t>
            </a:r>
          </a:p>
          <a:p>
            <a:pPr>
              <a:spcAft>
                <a:spcPts val="1800"/>
              </a:spcAft>
              <a:defRPr sz="2200"/>
            </a:pPr>
            <a:r>
              <a:t>Социальные рекомендации помогают открывать книги, но не гарантируют продажи.</a:t>
            </a:r>
          </a:p>
          <a:p>
            <a:pPr>
              <a:spcAft>
                <a:spcPts val="1800"/>
              </a:spcAft>
              <a:defRPr sz="2200"/>
            </a:pPr>
            <a:r>
              <a:t>Рынки, форматы и денежные показатели нельзя смешивать.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Проверка концепции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Сравнить 15–25 книг.</a:t>
            </a:r>
          </a:p>
          <a:p>
            <a:pPr>
              <a:spcAft>
                <a:spcPts val="1800"/>
              </a:spcAft>
              <a:defRPr sz="2200"/>
            </a:pPr>
            <a:r>
              <a:t>Проверить 3 логлайна и 2–3 визуальных направления.</a:t>
            </a:r>
          </a:p>
          <a:p>
            <a:pPr>
              <a:spcAft>
                <a:spcPts val="1800"/>
              </a:spcAft>
              <a:defRPr sz="2200"/>
            </a:pPr>
            <a:r>
              <a:t>Дать фрагмент целевым читателям и задать одинаковые вопросы.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Создание рукописи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Авторское ядро → черновик → проверка причин и последствий.</a:t>
            </a:r>
          </a:p>
          <a:p>
            <a:pPr>
              <a:spcAft>
                <a:spcPts val="1800"/>
              </a:spcAft>
              <a:defRPr sz="2200"/>
            </a:pPr>
            <a:r>
              <a:t>Бета-читатели → редактура → корректура.</a:t>
            </a:r>
          </a:p>
          <a:p>
            <a:pPr>
              <a:spcAft>
                <a:spcPts val="1800"/>
              </a:spcAft>
              <a:defRPr sz="2200"/>
            </a:pPr>
            <a:r>
              <a:t>Каждая сцена меняет сюжет, героя, отношения или тему.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Продвижение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Один основной канал и максимум два дополнительных.</a:t>
            </a:r>
          </a:p>
          <a:p>
            <a:pPr>
              <a:spcAft>
                <a:spcPts val="1800"/>
              </a:spcAft>
              <a:defRPr sz="2200"/>
            </a:pPr>
            <a:r>
              <a:t>Публиковать загадки, атмосферу, дилеммы и реальный процесс.</a:t>
            </a:r>
          </a:p>
          <a:p>
            <a:pPr>
              <a:spcAft>
                <a:spcPts val="1800"/>
              </a:spcAft>
              <a:defRPr sz="2200"/>
            </a:pPr>
            <a:r>
              <a:t>Платная реклама — только с измеримой целью и лимитом.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Риски и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Следить за темпом, логикой магии и отличием от похожих книг.</a:t>
            </a:r>
          </a:p>
          <a:p>
            <a:pPr>
              <a:spcAft>
                <a:spcPts val="1800"/>
              </a:spcAft>
              <a:defRPr sz="2200"/>
            </a:pPr>
            <a:r>
              <a:t>Измерять запросы фрагмента, подписки, переходы и конверсию.</a:t>
            </a:r>
          </a:p>
          <a:p>
            <a:pPr>
              <a:spcAft>
                <a:spcPts val="1800"/>
              </a:spcAft>
              <a:defRPr sz="2200"/>
            </a:pPr>
            <a:r>
              <a:t>Не покупать отзывы, не накручивать охваты.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Публикация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Сравнить традиционное издательство, самостоятельный релиз и сериализацию.</a:t>
            </a:r>
          </a:p>
          <a:p>
            <a:pPr>
              <a:spcAft>
                <a:spcPts val="1800"/>
              </a:spcAft>
              <a:defRPr sz="2200"/>
            </a:pPr>
            <a:r>
              <a:t>Проверить права, комиссии, территории, сроки и возврат прав.</a:t>
            </a:r>
          </a:p>
          <a:p>
            <a:pPr>
              <a:spcAft>
                <a:spcPts val="1800"/>
              </a:spcAft>
              <a:defRPr sz="2200"/>
            </a:pPr>
            <a:r>
              <a:t>Выбирать путь по своим приоритетам и реальным условиям.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Уточнить авторское ядро и логлайн.</a:t>
            </a:r>
          </a:p>
          <a:p>
            <a:pPr>
              <a:spcAft>
                <a:spcPts val="1800"/>
              </a:spcAft>
              <a:defRPr sz="2200"/>
            </a:pPr>
            <a:r>
              <a:t>Создать сильный фрагмент и проверить его на читателях.</a:t>
            </a:r>
          </a:p>
          <a:p>
            <a:pPr>
              <a:spcAft>
                <a:spcPts val="1800"/>
              </a:spcAft>
              <a:defRPr sz="2200"/>
            </a:pPr>
            <a:r>
              <a:t>Гарантировать успех выше 90% невозможно; можно снижать риски.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